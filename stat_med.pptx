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Manrope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&#1086;&#1084;&#1077;&#1083;&#1080;&#1103;.&#1088;&#1092;/map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473571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1607790"/>
            <a:ext cx="1143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Manrope"/>
              </a:rPr>
              <a:t>АНАЛИТИЧЕСКИЙ ОТЧЕТ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960215"/>
            <a:ext cx="8601075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 dirty="0" err="1">
                <a:latin typeface="Manrope"/>
              </a:rPr>
              <a:t>Статистика</a:t>
            </a:r>
            <a:r>
              <a:rPr sz="3900" b="1" i="0" u="none" dirty="0">
                <a:latin typeface="Manrope"/>
              </a:rPr>
              <a:t> </a:t>
            </a:r>
            <a:r>
              <a:rPr sz="3900" b="1" i="0" u="none" dirty="0" err="1">
                <a:latin typeface="Manrope"/>
              </a:rPr>
              <a:t>необращений</a:t>
            </a:r>
            <a:r>
              <a:rPr sz="3900" b="1" i="0" u="none" dirty="0">
                <a:latin typeface="Manrope"/>
              </a:rPr>
              <a:t> в </a:t>
            </a:r>
            <a:r>
              <a:rPr sz="3900" b="1" i="0" u="none" dirty="0" err="1">
                <a:latin typeface="Manrope"/>
              </a:rPr>
              <a:t>государственные</a:t>
            </a:r>
            <a:r>
              <a:rPr sz="3900" b="1" i="0" u="none" dirty="0">
                <a:latin typeface="Manrope"/>
              </a:rPr>
              <a:t> </a:t>
            </a:r>
            <a:r>
              <a:rPr sz="3900" b="1" i="0" u="none" dirty="0" err="1">
                <a:latin typeface="Manrope"/>
              </a:rPr>
              <a:t>медучреждения</a:t>
            </a:r>
            <a:endParaRPr sz="3900" b="1" i="0" u="none" dirty="0">
              <a:latin typeface="Manrope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0" y="3897510"/>
            <a:ext cx="6286500" cy="252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 dirty="0" err="1">
                <a:latin typeface="Manrope"/>
              </a:rPr>
              <a:t>Исследование</a:t>
            </a:r>
            <a:r>
              <a:rPr sz="1500" b="0" i="0" u="none" dirty="0">
                <a:latin typeface="Manrope"/>
              </a:rPr>
              <a:t> </a:t>
            </a:r>
            <a:r>
              <a:rPr sz="1500" b="0" i="0" u="none" dirty="0" err="1">
                <a:latin typeface="Manrope"/>
              </a:rPr>
              <a:t>поведенческих</a:t>
            </a:r>
            <a:r>
              <a:rPr sz="1500" b="0" i="0" u="none" dirty="0">
                <a:latin typeface="Manrope"/>
              </a:rPr>
              <a:t> </a:t>
            </a:r>
            <a:r>
              <a:rPr sz="1500" b="0" i="0" u="none" dirty="0" err="1">
                <a:latin typeface="Manrope"/>
              </a:rPr>
              <a:t>паттернов</a:t>
            </a:r>
            <a:r>
              <a:rPr sz="1500" b="0" i="0" u="none" dirty="0">
                <a:latin typeface="Manrope"/>
              </a:rPr>
              <a:t> </a:t>
            </a:r>
            <a:r>
              <a:rPr sz="1500" b="0" i="0" u="none" dirty="0" err="1">
                <a:latin typeface="Manrope"/>
              </a:rPr>
              <a:t>пациентов</a:t>
            </a:r>
            <a:r>
              <a:rPr sz="1500" b="0" i="0" u="none" dirty="0">
                <a:latin typeface="Manrope"/>
              </a:rPr>
              <a:t> </a:t>
            </a:r>
            <a:r>
              <a:rPr sz="1500" b="0" i="0" u="none" dirty="0" err="1">
                <a:latin typeface="Manrope"/>
              </a:rPr>
              <a:t>по</a:t>
            </a:r>
            <a:r>
              <a:rPr sz="1500" b="0" i="0" u="none" dirty="0">
                <a:latin typeface="Manrope"/>
              </a:rPr>
              <a:t> 85 </a:t>
            </a:r>
            <a:r>
              <a:rPr sz="1500" b="0" i="0" u="none" dirty="0" err="1">
                <a:latin typeface="Manrope"/>
              </a:rPr>
              <a:t>регионам</a:t>
            </a:r>
            <a:r>
              <a:rPr sz="1500" b="0" i="0" u="none" dirty="0">
                <a:latin typeface="Manrope"/>
              </a:rPr>
              <a:t> </a:t>
            </a:r>
            <a:r>
              <a:rPr sz="1500" b="0" i="0" u="none" dirty="0" err="1">
                <a:latin typeface="Manrope"/>
              </a:rPr>
              <a:t>России</a:t>
            </a:r>
            <a:endParaRPr sz="1500" b="0" i="0" u="none" dirty="0">
              <a:latin typeface="Manrope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5040510"/>
            <a:ext cx="222881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 err="1">
                <a:latin typeface="Manrope"/>
              </a:rPr>
              <a:t>Подготовила</a:t>
            </a:r>
            <a:r>
              <a:rPr sz="1200" b="0" i="0" u="none" dirty="0">
                <a:latin typeface="Manrope"/>
              </a:rPr>
              <a:t>: </a:t>
            </a:r>
            <a:r>
              <a:rPr sz="1200" b="0" i="0" u="none" dirty="0" err="1">
                <a:latin typeface="Manrope"/>
              </a:rPr>
              <a:t>Согонокова</a:t>
            </a:r>
            <a:r>
              <a:rPr sz="1200" b="0" i="0" u="none" dirty="0">
                <a:latin typeface="Manrope"/>
              </a:rPr>
              <a:t> </a:t>
            </a:r>
            <a:r>
              <a:rPr sz="1200" b="0" i="0" u="none" dirty="0" err="1">
                <a:latin typeface="Manrope"/>
              </a:rPr>
              <a:t>Омелия</a:t>
            </a:r>
            <a:endParaRPr sz="1200" b="0" i="0" u="none" dirty="0">
              <a:latin typeface="Manro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256412" y="1925835"/>
            <a:ext cx="4325987" cy="809625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256412" y="2868810"/>
            <a:ext cx="4325987" cy="809625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256412" y="3811785"/>
            <a:ext cx="4325987" cy="1009650"/>
          </a:xfrm>
          <a:prstGeom prst="roundRect">
            <a:avLst>
              <a:gd name="adj" fmla="val 113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256412" y="4954785"/>
            <a:ext cx="4325987" cy="809625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256412" y="1925835"/>
            <a:ext cx="57150" cy="8096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56412" y="2868810"/>
            <a:ext cx="57150" cy="809625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256412" y="3811785"/>
            <a:ext cx="57150" cy="10096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256412" y="4954785"/>
            <a:ext cx="57150" cy="80962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59123"/>
            <a:ext cx="6303912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19975" y="1353446"/>
            <a:ext cx="43815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 err="1">
                <a:solidFill>
                  <a:srgbClr val="64748B"/>
                </a:solidFill>
                <a:latin typeface="Manrope"/>
              </a:rPr>
              <a:t>Альтернативы</a:t>
            </a:r>
            <a:r>
              <a:rPr sz="1200" b="0" i="0" u="none" dirty="0">
                <a:solidFill>
                  <a:srgbClr val="64748B"/>
                </a:solidFill>
                <a:latin typeface="Manrope"/>
              </a:rPr>
              <a:t>: </a:t>
            </a:r>
            <a:r>
              <a:rPr sz="1200" b="0" i="0" u="none" dirty="0" err="1">
                <a:solidFill>
                  <a:srgbClr val="64748B"/>
                </a:solidFill>
                <a:latin typeface="Manrope"/>
              </a:rPr>
              <a:t>самолечение</a:t>
            </a:r>
            <a:r>
              <a:rPr sz="1200" b="0" i="0" u="none" dirty="0">
                <a:solidFill>
                  <a:srgbClr val="64748B"/>
                </a:solidFill>
                <a:latin typeface="Manrope"/>
              </a:rPr>
              <a:t>, </a:t>
            </a:r>
            <a:r>
              <a:rPr sz="1200" b="0" i="0" u="none" dirty="0" err="1">
                <a:solidFill>
                  <a:srgbClr val="64748B"/>
                </a:solidFill>
                <a:latin typeface="Manrope"/>
              </a:rPr>
              <a:t>частные</a:t>
            </a:r>
            <a:r>
              <a:rPr sz="1200" b="0" i="0" u="none" dirty="0">
                <a:solidFill>
                  <a:srgbClr val="64748B"/>
                </a:solidFill>
                <a:latin typeface="Manrope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Manrope"/>
              </a:rPr>
              <a:t>клиники</a:t>
            </a:r>
            <a:r>
              <a:rPr sz="1200" b="0" i="0" u="none" dirty="0">
                <a:solidFill>
                  <a:srgbClr val="64748B"/>
                </a:solidFill>
                <a:latin typeface="Manrope"/>
              </a:rPr>
              <a:t>, ДМС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57200"/>
            <a:ext cx="6810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Manrope"/>
              </a:rPr>
              <a:t>ГЕОГРАФИЧЕСКОЕ РАСПРЕДЕЛЕНИЕ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95325"/>
            <a:ext cx="7150893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anrope"/>
              </a:rPr>
              <a:t>Карта 85 регионов по долям отказа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4062" y="2097285"/>
            <a:ext cx="46879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66534"/>
                </a:solidFill>
                <a:latin typeface="Manrope"/>
              </a:rPr>
              <a:t>Менее 45% (Зеленая зона)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04062" y="2363985"/>
            <a:ext cx="4687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Manrope"/>
              </a:rPr>
              <a:t>12 регионов: столицы и сырьевые центры.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4062" y="3040260"/>
            <a:ext cx="46879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854D0E"/>
                </a:solidFill>
                <a:latin typeface="Manrope"/>
              </a:rPr>
              <a:t>46% – 55% (Желтая зона)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4062" y="3306960"/>
            <a:ext cx="4687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Manrope"/>
              </a:rPr>
              <a:t>29 регионов: умеренная доступность частных клиник.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4062" y="3983235"/>
            <a:ext cx="46879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A3412"/>
                </a:solidFill>
                <a:latin typeface="Manrope"/>
              </a:rPr>
              <a:t>56% – 65% (Оранжевая зона)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4062" y="4249935"/>
            <a:ext cx="39830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Manrope"/>
              </a:rPr>
              <a:t>33 региона: дефицит специалистов и устаревшее оснащение.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4062" y="5126235"/>
            <a:ext cx="46879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91B1B"/>
                </a:solidFill>
                <a:latin typeface="Manrope"/>
              </a:rPr>
              <a:t>Более 65% (Красная зона)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04062" y="5392935"/>
            <a:ext cx="4687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Manrope"/>
              </a:rPr>
              <a:t>11 регионов: удаленность и кадровый кризис.</a:t>
            </a:r>
          </a:p>
        </p:txBody>
      </p:sp>
      <p:pic>
        <p:nvPicPr>
          <p:cNvPr id="24" name="Рисунок 23" descr="Изображение выглядит как карта, атлас, текст">
            <a:hlinkClick r:id="rId3"/>
            <a:extLst>
              <a:ext uri="{FF2B5EF4-FFF2-40B4-BE49-F238E27FC236}">
                <a16:creationId xmlns:a16="http://schemas.microsoft.com/office/drawing/2014/main" id="{DF4BDD29-0B4E-58F6-6ADE-1CF94E537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873" y="1789471"/>
            <a:ext cx="6050721" cy="41295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2">
            <a:extLst>
              <a:ext uri="{FF2B5EF4-FFF2-40B4-BE49-F238E27FC236}">
                <a16:creationId xmlns:a16="http://schemas.microsoft.com/office/drawing/2014/main" id="{14E7ECD0-2C8F-6B7B-F76A-9E2CA2D54724}"/>
              </a:ext>
            </a:extLst>
          </p:cNvPr>
          <p:cNvSpPr/>
          <p:nvPr/>
        </p:nvSpPr>
        <p:spPr>
          <a:xfrm>
            <a:off x="514350" y="1225748"/>
            <a:ext cx="2571750" cy="238125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362325" y="1225748"/>
            <a:ext cx="2571750" cy="2381250"/>
          </a:xfrm>
          <a:prstGeom prst="roundRect">
            <a:avLst>
              <a:gd name="adj" fmla="val 64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62675" y="1225748"/>
            <a:ext cx="2571750" cy="2381250"/>
          </a:xfrm>
          <a:prstGeom prst="roundRect">
            <a:avLst>
              <a:gd name="adj" fmla="val 640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63025" y="1225748"/>
            <a:ext cx="2571750" cy="2381250"/>
          </a:xfrm>
          <a:prstGeom prst="roundRect">
            <a:avLst>
              <a:gd name="adj" fmla="val 6400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Manrope"/>
              </a:rPr>
              <a:t>КЛЮЧЕВЫЕ ПОКАЗАТЕЛИ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anrope"/>
              </a:rPr>
              <a:t>Полярность показателей по стране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682948"/>
            <a:ext cx="24765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64748B"/>
                </a:solidFill>
                <a:latin typeface="Manrope"/>
              </a:rPr>
              <a:t>Субъектов в исследовании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178248"/>
            <a:ext cx="2476500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0F172A"/>
                </a:solidFill>
                <a:latin typeface="Manrope"/>
              </a:rPr>
              <a:t>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940248"/>
            <a:ext cx="24765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334155"/>
                </a:solidFill>
                <a:latin typeface="Manrope"/>
              </a:rPr>
              <a:t>Охват всех регионов РФ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9950" y="1578173"/>
            <a:ext cx="24765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66534"/>
                </a:solidFill>
                <a:latin typeface="Manrope"/>
              </a:rPr>
              <a:t>Минимальный отказ (Москва)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9950" y="2073473"/>
            <a:ext cx="2476500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16A34A"/>
                </a:solidFill>
                <a:latin typeface="Manrope"/>
              </a:rPr>
              <a:t>32%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9950" y="2835473"/>
            <a:ext cx="24765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15803D"/>
                </a:solidFill>
                <a:latin typeface="Manrope"/>
              </a:rPr>
              <a:t>Высокий спрос на платные клиники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300" y="1578173"/>
            <a:ext cx="24765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991B1B"/>
                </a:solidFill>
                <a:latin typeface="Manrope"/>
              </a:rPr>
              <a:t>Максимальный отказ (Чукотка)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0300" y="2073473"/>
            <a:ext cx="2476500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DC2626"/>
                </a:solidFill>
                <a:latin typeface="Manrope"/>
              </a:rPr>
              <a:t>75%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0300" y="2835473"/>
            <a:ext cx="24765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B91C1C"/>
                </a:solidFill>
                <a:latin typeface="Manrope"/>
              </a:rPr>
              <a:t>Экстремальная удаленность пунктов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0650" y="1578173"/>
            <a:ext cx="24765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9A3412"/>
                </a:solidFill>
                <a:latin typeface="Manrope"/>
              </a:rPr>
              <a:t>Средний диапазон (78% регионов)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0650" y="2073473"/>
            <a:ext cx="2476500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EA580C"/>
                </a:solidFill>
                <a:latin typeface="Manrope"/>
              </a:rPr>
              <a:t>54%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0650" y="2835473"/>
            <a:ext cx="24765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C2410C"/>
                </a:solidFill>
                <a:latin typeface="Manrope"/>
              </a:rPr>
              <a:t>Отказ каждого второго жителя</a:t>
            </a:r>
          </a:p>
        </p:txBody>
      </p:sp>
      <p:pic>
        <p:nvPicPr>
          <p:cNvPr id="22" name="Рисунок 21" descr="Изображение выглядит как карта, текст, атлас, вод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E6D491C-B4B5-3D4F-74A7-366FCABF7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22" y="4037710"/>
            <a:ext cx="2524126" cy="2407738"/>
          </a:xfrm>
          <a:prstGeom prst="rect">
            <a:avLst/>
          </a:prstGeom>
        </p:spPr>
      </p:pic>
      <p:pic>
        <p:nvPicPr>
          <p:cNvPr id="24" name="Рисунок 23" descr="Изображение выглядит как облако, небо, строительство, на открытом воздух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328E3C0-43C3-AC57-BA86-3C812207F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697" y="4064198"/>
            <a:ext cx="2525378" cy="2351759"/>
          </a:xfrm>
          <a:prstGeom prst="rect">
            <a:avLst/>
          </a:prstGeom>
        </p:spPr>
      </p:pic>
      <p:pic>
        <p:nvPicPr>
          <p:cNvPr id="26" name="Рисунок 25" descr="Изображение выглядит как на открытом воздухе, вода, облако, неб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1173B1B-DBEF-848F-38F2-6F030628FA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4064198"/>
            <a:ext cx="2524126" cy="2407738"/>
          </a:xfrm>
          <a:prstGeom prst="rect">
            <a:avLst/>
          </a:prstGeom>
        </p:spPr>
      </p:pic>
      <p:pic>
        <p:nvPicPr>
          <p:cNvPr id="28" name="Рисунок 27" descr="Изображение выглядит как дизайн, искус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F700680-1EF5-B68A-D0BB-ECD4E60B16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0650" y="4064198"/>
            <a:ext cx="2524126" cy="23517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586955"/>
            <a:ext cx="3505200" cy="184204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1586955"/>
            <a:ext cx="3505200" cy="184204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1586955"/>
            <a:ext cx="3505200" cy="184204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90128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190128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190128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650" y="2025105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9162" y="2025105"/>
            <a:ext cx="23812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0" y="2025105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Manrope"/>
              </a:rPr>
              <a:t>ЗЕЛЕНАЯ ГРУППА: МЕНЕЕ 45%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953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anrope"/>
              </a:rPr>
              <a:t>Драйверы выбора коммерческой медицины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2548980"/>
            <a:ext cx="3875484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Manrope"/>
              </a:rPr>
              <a:t>Корпоративный ДМС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2901405"/>
            <a:ext cx="3690937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Manrope"/>
              </a:rPr>
              <a:t>ХМАО, Тюмень, Санкт-Петербург.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2548980"/>
            <a:ext cx="3875484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Manrope"/>
              </a:rPr>
              <a:t>Высокий доход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2901405"/>
            <a:ext cx="3690937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Manrope"/>
              </a:rPr>
              <a:t>ЯНАО, Москва, Подмосковье.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2548980"/>
            <a:ext cx="38385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Manrope"/>
              </a:rPr>
              <a:t>Экономия времени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2901405"/>
            <a:ext cx="3690937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Manrope"/>
              </a:rPr>
              <a:t>Мордовия, Сахалин, Белгород.</a:t>
            </a:r>
          </a:p>
        </p:txBody>
      </p:sp>
      <p:pic>
        <p:nvPicPr>
          <p:cNvPr id="20" name="Рисунок 19" descr="Изображение выглядит как одежда, Человеческое лицо, улыбка, челове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DE34A63-B389-9878-C10C-AFD1DA1B33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650" y="3954960"/>
            <a:ext cx="2641498" cy="2566562"/>
          </a:xfrm>
          <a:prstGeom prst="rect">
            <a:avLst/>
          </a:prstGeom>
          <a:noFill/>
        </p:spPr>
      </p:pic>
      <p:pic>
        <p:nvPicPr>
          <p:cNvPr id="22" name="Рисунок 21" descr="Изображение выглядит как дизайн, графическая встав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5DBE1D9-EB4B-1F87-EA5D-89ABE09E665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1309" y="3961194"/>
            <a:ext cx="2712955" cy="2619701"/>
          </a:xfrm>
          <a:prstGeom prst="rect">
            <a:avLst/>
          </a:prstGeom>
        </p:spPr>
      </p:pic>
      <p:pic>
        <p:nvPicPr>
          <p:cNvPr id="24" name="Рисунок 23" descr="Изображение выглядит как часы, мультфильм, настенные часы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583B88B-14F7-5803-2838-8816E9C86A6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0" y="3961193"/>
            <a:ext cx="2611664" cy="26197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09104"/>
            <a:ext cx="5334000" cy="2087612"/>
          </a:xfrm>
          <a:prstGeom prst="roundRect">
            <a:avLst>
              <a:gd name="adj" fmla="val 7300"/>
            </a:avLst>
          </a:prstGeom>
          <a:solidFill>
            <a:srgbClr val="FEFCE8"/>
          </a:solidFill>
          <a:ln w="9525">
            <a:solidFill>
              <a:srgbClr val="FEF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1409104"/>
            <a:ext cx="5334000" cy="2087612"/>
          </a:xfrm>
          <a:prstGeom prst="roundRect">
            <a:avLst>
              <a:gd name="adj" fmla="val 73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Manrope"/>
              </a:rPr>
              <a:t>ЖЕЛТАЯ ГРУППА: 46% – 55%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953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anrope"/>
              </a:rPr>
              <a:t>Системные барьеры в поликлиниках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1761529"/>
            <a:ext cx="6075759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854D0E"/>
                </a:solidFill>
                <a:latin typeface="Manrope"/>
              </a:rPr>
              <a:t>Очереди и запись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825" y="1761529"/>
            <a:ext cx="55911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Manrope"/>
              </a:rPr>
              <a:t>Логистика и среда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2237779"/>
            <a:ext cx="5786437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713F12"/>
                </a:solidFill>
                <a:latin typeface="Manrope"/>
              </a:rPr>
              <a:t>Дефицит талонов:</a:t>
            </a:r>
            <a:r>
              <a:rPr sz="1200" b="0" i="0" u="none">
                <a:solidFill>
                  <a:srgbClr val="713F12"/>
                </a:solidFill>
                <a:latin typeface="Manrope"/>
              </a:rPr>
              <a:t> нехватка узких специалистов.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2584400"/>
            <a:ext cx="5786437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713F12"/>
                </a:solidFill>
                <a:latin typeface="Manrope"/>
              </a:rPr>
              <a:t>Электронная регистратура:</a:t>
            </a:r>
            <a:r>
              <a:rPr sz="1200" b="0" i="0" u="none">
                <a:solidFill>
                  <a:srgbClr val="713F12"/>
                </a:solidFill>
                <a:latin typeface="Manrope"/>
              </a:rPr>
              <a:t> сбои и неудобное время.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2931021"/>
            <a:ext cx="5786437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713F12"/>
                </a:solidFill>
                <a:latin typeface="Manrope"/>
              </a:rPr>
              <a:t>Долгое ожидание:</a:t>
            </a:r>
            <a:r>
              <a:rPr sz="1200" b="0" i="0" u="none">
                <a:solidFill>
                  <a:srgbClr val="713F12"/>
                </a:solidFill>
                <a:latin typeface="Manrope"/>
              </a:rPr>
              <a:t> задержка планового приема.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2237779"/>
            <a:ext cx="5591175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334155"/>
                </a:solidFill>
                <a:latin typeface="Manrope"/>
              </a:rPr>
              <a:t>Новые ЖК:</a:t>
            </a:r>
            <a:r>
              <a:rPr sz="1200" b="0" i="0" u="none">
                <a:solidFill>
                  <a:srgbClr val="334155"/>
                </a:solidFill>
                <a:latin typeface="Manrope"/>
              </a:rPr>
              <a:t> удаленность поликлиник от застроек.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0825" y="2584400"/>
            <a:ext cx="5591175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334155"/>
                </a:solidFill>
                <a:latin typeface="Manrope"/>
              </a:rPr>
              <a:t>Северный фактор:</a:t>
            </a:r>
            <a:r>
              <a:rPr sz="1200" b="0" i="0" u="none">
                <a:solidFill>
                  <a:srgbClr val="334155"/>
                </a:solidFill>
                <a:latin typeface="Manrope"/>
              </a:rPr>
              <a:t> большие расстояния в Якутии.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0825" y="2931021"/>
            <a:ext cx="5591175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334155"/>
                </a:solidFill>
                <a:latin typeface="Manrope"/>
              </a:rPr>
              <a:t>Самолечение:</a:t>
            </a:r>
            <a:r>
              <a:rPr sz="1200" b="0" i="0" u="none">
                <a:solidFill>
                  <a:srgbClr val="334155"/>
                </a:solidFill>
                <a:latin typeface="Manrope"/>
              </a:rPr>
              <a:t> популярность народных рецептов.</a:t>
            </a:r>
          </a:p>
        </p:txBody>
      </p:sp>
      <p:pic>
        <p:nvPicPr>
          <p:cNvPr id="15" name="Рисунок 14" descr="Изображение выглядит как игрушка, мультфильм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85178D5-1330-0DB9-8D41-592B7EB5B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455" y="3844825"/>
            <a:ext cx="2453242" cy="2426957"/>
          </a:xfrm>
          <a:prstGeom prst="rect">
            <a:avLst/>
          </a:prstGeom>
        </p:spPr>
      </p:pic>
      <p:pic>
        <p:nvPicPr>
          <p:cNvPr id="17" name="Рисунок 16" descr="Изображение выглядит как на открытом воздухе, небо, облако, земл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BD91FD2-FA5B-DC12-87F6-823D70769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8497" y="3817396"/>
            <a:ext cx="2850127" cy="25834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529627"/>
            <a:ext cx="2600325" cy="1638300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1529627"/>
            <a:ext cx="2600325" cy="1638300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1529627"/>
            <a:ext cx="2600325" cy="1638300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1529627"/>
            <a:ext cx="2600325" cy="1638300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805852"/>
            <a:ext cx="21240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1805852"/>
            <a:ext cx="212407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1805852"/>
            <a:ext cx="212407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200" y="1805852"/>
            <a:ext cx="2124075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Manrope"/>
              </a:rPr>
              <a:t>ОРАНЖЕВАЯ ГРУППА: 56% – 65%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anrope"/>
              </a:rPr>
              <a:t>Инфраструктурный дефицит в 33 регионах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2186852"/>
            <a:ext cx="278784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Manrope"/>
              </a:rPr>
              <a:t>Кадровый голод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2491652"/>
            <a:ext cx="22193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Manrope"/>
              </a:rPr>
              <a:t>Нехватка участковых терапевтов и педиатров.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2186852"/>
            <a:ext cx="278784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Manrope"/>
              </a:rPr>
              <a:t>Износ техники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2491652"/>
            <a:ext cx="22193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Manrope"/>
              </a:rPr>
              <a:t>Устаревшее диагностическое оборудование.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2186852"/>
            <a:ext cx="278784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Manrope"/>
              </a:rPr>
              <a:t>Сложная логистика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2491652"/>
            <a:ext cx="22193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Manrope"/>
              </a:rPr>
              <a:t>Зимники в Коми и закрытие сельских пунктов.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0200" y="2186852"/>
            <a:ext cx="278784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Manrope"/>
              </a:rPr>
              <a:t>Сервис и очереди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2491652"/>
            <a:ext cx="22193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Manrope"/>
              </a:rPr>
              <a:t>Формальный подход и задержки скорой помощи.</a:t>
            </a:r>
          </a:p>
        </p:txBody>
      </p:sp>
      <p:pic>
        <p:nvPicPr>
          <p:cNvPr id="21" name="Рисунок 20" descr="Изображение выглядит как Человеческое лицо, человек, улыбка, солнцезащитные очки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9190450-7B3A-13F7-03F2-BFCA43DD00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789" y="3775680"/>
            <a:ext cx="2525444" cy="2349087"/>
          </a:xfrm>
          <a:prstGeom prst="rect">
            <a:avLst/>
          </a:prstGeom>
        </p:spPr>
      </p:pic>
      <p:pic>
        <p:nvPicPr>
          <p:cNvPr id="23" name="Рисунок 22" descr="Изображение выглядит как в помещении, Медицинское оборудование, одежда, челове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D5FF8EE-0E88-EE63-70F6-A1239E44FA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0425" y="3775680"/>
            <a:ext cx="2524700" cy="2312951"/>
          </a:xfrm>
          <a:prstGeom prst="rect">
            <a:avLst/>
          </a:prstGeom>
        </p:spPr>
      </p:pic>
      <p:pic>
        <p:nvPicPr>
          <p:cNvPr id="25" name="Рисунок 24" descr="Изображение выглядит как на открытом воздухе, транспортное средство, транспорт, снег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6FB9224-C762-1D59-77B2-DF3A6B0A24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3531" y="3754284"/>
            <a:ext cx="2643869" cy="2299615"/>
          </a:xfrm>
          <a:prstGeom prst="rect">
            <a:avLst/>
          </a:prstGeom>
        </p:spPr>
      </p:pic>
      <p:pic>
        <p:nvPicPr>
          <p:cNvPr id="27" name="Рисунок 26" descr="Изображение выглядит как одежда, человек, мультфильм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3F0308D-55C9-A6B5-9C09-21350EB7CDF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0097" y="3785237"/>
            <a:ext cx="2339530" cy="23395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68798"/>
            <a:ext cx="5046612" cy="2228850"/>
          </a:xfrm>
          <a:prstGeom prst="roundRect">
            <a:avLst>
              <a:gd name="adj" fmla="val 6837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37212" y="2244923"/>
            <a:ext cx="5545187" cy="733425"/>
          </a:xfrm>
          <a:prstGeom prst="roundRect">
            <a:avLst>
              <a:gd name="adj" fmla="val 1298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37212" y="3092648"/>
            <a:ext cx="5545187" cy="733425"/>
          </a:xfrm>
          <a:prstGeom prst="roundRect">
            <a:avLst>
              <a:gd name="adj" fmla="val 1298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37212" y="3940373"/>
            <a:ext cx="5545187" cy="733425"/>
          </a:xfrm>
          <a:prstGeom prst="roundRect">
            <a:avLst>
              <a:gd name="adj" fmla="val 1298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37212" y="4788098"/>
            <a:ext cx="5545187" cy="733425"/>
          </a:xfrm>
          <a:prstGeom prst="roundRect">
            <a:avLst>
              <a:gd name="adj" fmla="val 1298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Manrope"/>
              </a:rPr>
              <a:t>КРАСНАЯ ГРУППА: БОЛЕЕ 65%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953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anrope"/>
              </a:rPr>
              <a:t>Зона критической нагрузки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929" y="3159323"/>
            <a:ext cx="5331953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DC2626"/>
                </a:solidFill>
                <a:latin typeface="Manrope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929" y="4073723"/>
            <a:ext cx="5331953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991B1B"/>
                </a:solidFill>
                <a:latin typeface="Manrope"/>
              </a:rPr>
              <a:t>Субъектов в критической зоне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929" y="4407098"/>
            <a:ext cx="533195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B91C1C"/>
                </a:solidFill>
                <a:latin typeface="Manrope"/>
              </a:rPr>
              <a:t>До 75% населения отказываются от госклиник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91850" y="2483048"/>
            <a:ext cx="6762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DC2626"/>
                </a:solidFill>
                <a:latin typeface="Manrope"/>
              </a:rPr>
              <a:t>75%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91850" y="3330773"/>
            <a:ext cx="6762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DC2626"/>
                </a:solidFill>
                <a:latin typeface="Manrope"/>
              </a:rPr>
              <a:t>72%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82325" y="4178498"/>
            <a:ext cx="6858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DC2626"/>
                </a:solidFill>
                <a:latin typeface="Manrope"/>
              </a:rPr>
              <a:t>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8475" y="5026223"/>
            <a:ext cx="10096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DC2626"/>
                </a:solidFill>
                <a:latin typeface="Manrope"/>
              </a:rPr>
              <a:t>67–68%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7237" y="2406848"/>
            <a:ext cx="37623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Manrope"/>
              </a:rPr>
              <a:t>Чукотский автономный округ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7237" y="2635448"/>
            <a:ext cx="3762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Manrope"/>
              </a:rPr>
              <a:t>Экстремальная удаленность и дефицит врачей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7237" y="3254573"/>
            <a:ext cx="2845593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Manrope"/>
              </a:rPr>
              <a:t>Республика Тыва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7237" y="3483173"/>
            <a:ext cx="284559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Manrope"/>
              </a:rPr>
              <a:t>Кадровый кризис и низкое качество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7237" y="4102298"/>
            <a:ext cx="3214687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Manrope"/>
              </a:rPr>
              <a:t>Камчатский край и ЕАО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7237" y="4330898"/>
            <a:ext cx="321468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Manrope"/>
              </a:rPr>
              <a:t>Нехватка специалистов на полуострове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7237" y="4950023"/>
            <a:ext cx="3119437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Manrope"/>
              </a:rPr>
              <a:t>Курганская и Псковская области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7237" y="5178623"/>
            <a:ext cx="31194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Manrope"/>
              </a:rPr>
              <a:t>Отток кадров и недофинансирование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035498"/>
            <a:ext cx="1826418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436018" y="3035498"/>
            <a:ext cx="1966912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402931" y="3035498"/>
            <a:ext cx="1545431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8362" y="3035498"/>
            <a:ext cx="5634037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573660"/>
            <a:ext cx="18264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436018" y="3573660"/>
            <a:ext cx="19669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02931" y="3573660"/>
            <a:ext cx="15454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8362" y="3573660"/>
            <a:ext cx="56340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4097535"/>
            <a:ext cx="18264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436018" y="4097535"/>
            <a:ext cx="19669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02931" y="4097535"/>
            <a:ext cx="15454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8362" y="4097535"/>
            <a:ext cx="56340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4621410"/>
            <a:ext cx="18264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36018" y="4621410"/>
            <a:ext cx="19669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02931" y="4621410"/>
            <a:ext cx="15454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8362" y="4621410"/>
            <a:ext cx="56340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09600" y="2540198"/>
            <a:ext cx="10972800" cy="26098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09600" y="2540198"/>
          <a:ext cx="10972798" cy="2609850"/>
        </p:xfrm>
        <a:graphic>
          <a:graphicData uri="http://schemas.openxmlformats.org/drawingml/2006/table">
            <a:tbl>
              <a:tblPr/>
              <a:tblGrid>
                <a:gridCol w="18264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6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54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0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197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Manrope"/>
                        </a:rPr>
                        <a:t>Группа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334155"/>
                          </a:solidFill>
                          <a:latin typeface="Manrope"/>
                        </a:rPr>
                        <a:t>Доля отказов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334155"/>
                          </a:solidFill>
                          <a:latin typeface="Manrope"/>
                        </a:rPr>
                        <a:t>Регионов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Manrope"/>
                        </a:rPr>
                        <a:t>Основной профиль отказа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97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66534"/>
                          </a:solidFill>
                          <a:latin typeface="Manrope"/>
                        </a:rPr>
                        <a:t>Зеленая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0F172A"/>
                          </a:solidFill>
                          <a:latin typeface="Manrope"/>
                        </a:rPr>
                        <a:t>32% – 44%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0F172A"/>
                          </a:solidFill>
                          <a:latin typeface="Manrope"/>
                        </a:rPr>
                        <a:t>12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Manrope"/>
                        </a:rPr>
                        <a:t>Высокий доход, ДМС и сервисные клиники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97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854D0E"/>
                          </a:solidFill>
                          <a:latin typeface="Manrope"/>
                        </a:rPr>
                        <a:t>Желтая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0F172A"/>
                          </a:solidFill>
                          <a:latin typeface="Manrope"/>
                        </a:rPr>
                        <a:t>46% – 55%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0F172A"/>
                          </a:solidFill>
                          <a:latin typeface="Manrope"/>
                        </a:rPr>
                        <a:t>29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Manrope"/>
                        </a:rPr>
                        <a:t>Очереди, нехватка талонов и самолечение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97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A3412"/>
                          </a:solidFill>
                          <a:latin typeface="Manrope"/>
                        </a:rPr>
                        <a:t>Оранжевая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0F172A"/>
                          </a:solidFill>
                          <a:latin typeface="Manrope"/>
                        </a:rPr>
                        <a:t>56% – 65%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0F172A"/>
                          </a:solidFill>
                          <a:latin typeface="Manrope"/>
                        </a:rPr>
                        <a:t>33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Manrope"/>
                        </a:rPr>
                        <a:t>Устаревшее оборудование, дефицит врачей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97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91B1B"/>
                          </a:solidFill>
                          <a:latin typeface="Manrope"/>
                        </a:rPr>
                        <a:t>Красная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0F172A"/>
                          </a:solidFill>
                          <a:latin typeface="Manrope"/>
                        </a:rPr>
                        <a:t>66% – 75%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0F172A"/>
                          </a:solidFill>
                          <a:latin typeface="Manrope"/>
                        </a:rPr>
                        <a:t>11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Manrope"/>
                        </a:rPr>
                        <a:t>Экстремальная удаленность и отток персонала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Manrope"/>
              </a:rPr>
              <a:t>КЛАСТЕРНЫЙ СРЕЗ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953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anrope"/>
              </a:rPr>
              <a:t>Сравнение факторов по группам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64073"/>
            <a:ext cx="10972800" cy="1333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654623"/>
            <a:ext cx="10972800" cy="1333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245173"/>
            <a:ext cx="10972800" cy="1333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835723"/>
            <a:ext cx="10972800" cy="1333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3064073"/>
            <a:ext cx="4608462" cy="1333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9600" y="3654623"/>
            <a:ext cx="3072258" cy="13335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9600" y="4245173"/>
            <a:ext cx="1755576" cy="1333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09600" y="4835723"/>
            <a:ext cx="1536055" cy="1333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Manrope"/>
              </a:rPr>
              <a:t>ФАКТОРНЫЙ АНАЛИЗ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anrope"/>
              </a:rPr>
              <a:t>Структура ключевых причин отказа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797373"/>
            <a:ext cx="4321968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Manrope"/>
              </a:rPr>
              <a:t>Очереди и нехватка талонов к специалистам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96550" y="2797373"/>
            <a:ext cx="13716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Manrope"/>
              </a:rPr>
              <a:t>42% регионов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387923"/>
            <a:ext cx="45720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Manrope"/>
              </a:rPr>
              <a:t>Дефицит врачей первичного звена и педиатров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96550" y="3387923"/>
            <a:ext cx="13716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A580C"/>
                </a:solidFill>
                <a:latin typeface="Manrope"/>
              </a:rPr>
              <a:t>28% регионов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3978473"/>
            <a:ext cx="5083968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Manrope"/>
              </a:rPr>
              <a:t>Географическая и транспортная удаленность ФАПов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25125" y="3978473"/>
            <a:ext cx="13430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DC2626"/>
                </a:solidFill>
                <a:latin typeface="Manrope"/>
              </a:rPr>
              <a:t>16% регионов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569023"/>
            <a:ext cx="4976812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Manrope"/>
              </a:rPr>
              <a:t>Осознанный выбор коммерческой медицины и ДМС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25125" y="4569023"/>
            <a:ext cx="13430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6A34A"/>
                </a:solidFill>
                <a:latin typeface="Manrope"/>
              </a:rPr>
              <a:t>14% регионов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867400" y="4106167"/>
            <a:ext cx="457200" cy="28575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816078" y="2218432"/>
            <a:ext cx="25598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38BDF8"/>
                </a:solidFill>
                <a:latin typeface="Manrope"/>
              </a:rPr>
              <a:t>ИТОГИ ИССЛЕДОВАНИЯ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47975" y="2570857"/>
            <a:ext cx="4296048" cy="5257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sz="3450" b="1" i="0" u="none" dirty="0" err="1">
                <a:latin typeface="Manrope"/>
              </a:rPr>
              <a:t>Спасибо</a:t>
            </a:r>
            <a:r>
              <a:rPr sz="3450" b="1" i="0" u="none" dirty="0">
                <a:latin typeface="Manrope"/>
              </a:rPr>
              <a:t> </a:t>
            </a:r>
            <a:r>
              <a:rPr sz="3450" b="1" i="0" u="none" dirty="0" err="1">
                <a:latin typeface="Manrope"/>
              </a:rPr>
              <a:t>за</a:t>
            </a:r>
            <a:r>
              <a:rPr sz="3450" b="1" i="0" u="none" dirty="0">
                <a:latin typeface="Manrope"/>
              </a:rPr>
              <a:t> </a:t>
            </a:r>
            <a:r>
              <a:rPr sz="3450" b="1" i="0" u="none" dirty="0" err="1">
                <a:latin typeface="Manrope"/>
              </a:rPr>
              <a:t>внимание</a:t>
            </a:r>
            <a:r>
              <a:rPr lang="ru-RU" sz="3450" b="1" i="0" u="none" dirty="0">
                <a:latin typeface="Manrope"/>
              </a:rPr>
              <a:t>!</a:t>
            </a:r>
            <a:endParaRPr sz="3450" b="1" i="0" u="none" dirty="0">
              <a:latin typeface="Manrope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62250" y="3287017"/>
            <a:ext cx="6667500" cy="494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>
                <a:latin typeface="Manrope"/>
              </a:rPr>
              <a:t>Вопросы</a:t>
            </a:r>
            <a:r>
              <a:rPr sz="1350" b="0" i="0" u="none" dirty="0">
                <a:latin typeface="Manrope"/>
              </a:rPr>
              <a:t> и </a:t>
            </a:r>
            <a:r>
              <a:rPr sz="1350" b="0" i="0" u="none" dirty="0" err="1">
                <a:latin typeface="Manrope"/>
              </a:rPr>
              <a:t>обсуждение</a:t>
            </a:r>
            <a:r>
              <a:rPr sz="1350" b="0" i="0" u="none" dirty="0">
                <a:latin typeface="Manrope"/>
              </a:rPr>
              <a:t> </a:t>
            </a:r>
            <a:r>
              <a:rPr sz="1350" b="0" i="0" u="none" dirty="0" err="1">
                <a:latin typeface="Manrope"/>
              </a:rPr>
              <a:t>практических</a:t>
            </a:r>
            <a:r>
              <a:rPr sz="1350" b="0" i="0" u="none" dirty="0">
                <a:latin typeface="Manrope"/>
              </a:rPr>
              <a:t> </a:t>
            </a:r>
            <a:r>
              <a:rPr sz="1350" b="0" i="0" u="none" dirty="0" err="1">
                <a:latin typeface="Manrope"/>
              </a:rPr>
              <a:t>шагов</a:t>
            </a:r>
            <a:r>
              <a:rPr sz="1350" b="0" i="0" u="none" dirty="0">
                <a:latin typeface="Manrope"/>
              </a:rPr>
              <a:t> </a:t>
            </a:r>
            <a:r>
              <a:rPr sz="1350" b="0" i="0" u="none" dirty="0" err="1">
                <a:latin typeface="Manrope"/>
              </a:rPr>
              <a:t>по</a:t>
            </a:r>
            <a:r>
              <a:rPr sz="1350" b="0" i="0" u="none" dirty="0">
                <a:latin typeface="Manrope"/>
              </a:rPr>
              <a:t> </a:t>
            </a:r>
            <a:r>
              <a:rPr sz="1350" b="0" i="0" u="none" dirty="0" err="1">
                <a:latin typeface="Manrope"/>
              </a:rPr>
              <a:t>повышению</a:t>
            </a:r>
            <a:r>
              <a:rPr sz="1350" b="0" i="0" u="none" dirty="0">
                <a:latin typeface="Manrope"/>
              </a:rPr>
              <a:t> </a:t>
            </a:r>
            <a:r>
              <a:rPr sz="1350" b="0" i="0" u="none" dirty="0" err="1">
                <a:latin typeface="Manrope"/>
              </a:rPr>
              <a:t>доступности</a:t>
            </a:r>
            <a:r>
              <a:rPr sz="1350" b="0" i="0" u="none" dirty="0">
                <a:latin typeface="Manrope"/>
              </a:rPr>
              <a:t> </a:t>
            </a:r>
            <a:r>
              <a:rPr sz="1350" b="0" i="0" u="none" dirty="0" err="1">
                <a:latin typeface="Manrope"/>
              </a:rPr>
              <a:t>поликлинической</a:t>
            </a:r>
            <a:r>
              <a:rPr sz="1350" b="0" i="0" u="none" dirty="0">
                <a:latin typeface="Manrope"/>
              </a:rPr>
              <a:t> </a:t>
            </a:r>
            <a:r>
              <a:rPr sz="1350" b="0" i="0" u="none" dirty="0" err="1">
                <a:latin typeface="Manrope"/>
              </a:rPr>
              <a:t>помощи</a:t>
            </a:r>
            <a:endParaRPr sz="1350" b="0" i="0" u="none" dirty="0">
              <a:latin typeface="Manrope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1247" y="4439542"/>
            <a:ext cx="1229504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 dirty="0" err="1">
                <a:latin typeface="Manrope"/>
              </a:rPr>
              <a:t>Согонокова</a:t>
            </a:r>
            <a:r>
              <a:rPr sz="1125" b="0" i="0" u="none" dirty="0">
                <a:latin typeface="Manrope"/>
              </a:rPr>
              <a:t> </a:t>
            </a:r>
            <a:r>
              <a:rPr sz="1125" b="0" i="0" u="none" dirty="0" err="1">
                <a:latin typeface="Manrope"/>
              </a:rPr>
              <a:t>Омелия</a:t>
            </a:r>
            <a:endParaRPr sz="1125" b="0" i="0" u="none" dirty="0">
              <a:latin typeface="Manrop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475</Words>
  <Application>Microsoft Office PowerPoint</Application>
  <PresentationFormat>Широкоэкранный</PresentationFormat>
  <Paragraphs>110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Calibri</vt:lpstr>
      <vt:lpstr>Manrope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</dc:creator>
  <cp:keywords/>
  <dc:description>generated using python-pptx</dc:description>
  <cp:lastModifiedBy>c oleg</cp:lastModifiedBy>
  <cp:revision>2</cp:revision>
  <dcterms:created xsi:type="dcterms:W3CDTF">2013-01-27T09:14:16Z</dcterms:created>
  <dcterms:modified xsi:type="dcterms:W3CDTF">2026-10-04T05:50:06Z</dcterms:modified>
  <cp:category/>
</cp:coreProperties>
</file>